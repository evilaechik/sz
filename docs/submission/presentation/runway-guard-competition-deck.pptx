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ba4d745b7d45ae" /><Relationship Type="http://schemas.openxmlformats.org/officeDocument/2006/relationships/extended-properties" Target="/docProps/app.xml" Id="Reb7db122833c49fd" /><Relationship Type="http://schemas.openxmlformats.org/officeDocument/2006/relationships/officeDocument" Target="/ppt/presentation.xml" Id="R50194c87739e40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f18556df514e2b"/>
  </p:sldMasterIdLst>
  <p:notesMasterIdLst>
    <p:notesMasterId xmlns:r="http://schemas.openxmlformats.org/officeDocument/2006/relationships" r:id="R5c17cd11633543b4"/>
  </p:notesMasterIdLst>
  <p:sldIdLst>
    <p:sldId xmlns:r="http://schemas.openxmlformats.org/officeDocument/2006/relationships" id="256" r:id="R5499243444744094"/>
    <p:sldId xmlns:r="http://schemas.openxmlformats.org/officeDocument/2006/relationships" id="257" r:id="R368b01183dad480d"/>
    <p:sldId xmlns:r="http://schemas.openxmlformats.org/officeDocument/2006/relationships" id="258" r:id="R5fc796ccb128483f"/>
    <p:sldId xmlns:r="http://schemas.openxmlformats.org/officeDocument/2006/relationships" id="259" r:id="R5dadfe03475440ce"/>
    <p:sldId xmlns:r="http://schemas.openxmlformats.org/officeDocument/2006/relationships" id="260" r:id="R919f4774fae04f86"/>
    <p:sldId xmlns:r="http://schemas.openxmlformats.org/officeDocument/2006/relationships" id="261" r:id="Rd8ed9b8d3ac348a6"/>
    <p:sldId xmlns:r="http://schemas.openxmlformats.org/officeDocument/2006/relationships" id="262" r:id="R8f4398837ef84867"/>
    <p:sldId xmlns:r="http://schemas.openxmlformats.org/officeDocument/2006/relationships" id="263" r:id="R31946bbbf6604808"/>
    <p:sldId xmlns:r="http://schemas.openxmlformats.org/officeDocument/2006/relationships" id="264" r:id="R94b088a685e54cd7"/>
    <p:sldId xmlns:r="http://schemas.openxmlformats.org/officeDocument/2006/relationships" id="265" r:id="R4c00eecb4c9c4c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82fc6cae71409e" /><Relationship Type="http://schemas.openxmlformats.org/officeDocument/2006/relationships/slideMaster" Target="/ppt/slideMasters/slideMaster1.xml" Id="Rccf18556df514e2b" /><Relationship Type="http://schemas.openxmlformats.org/officeDocument/2006/relationships/notesMaster" Target="/ppt/notesMasters/notesMaster1.xml" Id="R5c17cd11633543b4" /><Relationship Type="http://schemas.openxmlformats.org/officeDocument/2006/relationships/presProps" Target="/ppt/presProps.xml" Id="Rfbf6063dbe854523" /><Relationship Type="http://schemas.openxmlformats.org/officeDocument/2006/relationships/tableStyles" Target="/ppt/tableStyles.xml" Id="Rf048963962a7437c" /><Relationship Type="http://schemas.openxmlformats.org/officeDocument/2006/relationships/slide" Target="/ppt/slides/slide1.xml" Id="R5499243444744094" /><Relationship Type="http://schemas.openxmlformats.org/officeDocument/2006/relationships/slide" Target="/ppt/slides/slide2.xml" Id="R368b01183dad480d" /><Relationship Type="http://schemas.openxmlformats.org/officeDocument/2006/relationships/slide" Target="/ppt/slides/slide3.xml" Id="R5fc796ccb128483f" /><Relationship Type="http://schemas.openxmlformats.org/officeDocument/2006/relationships/slide" Target="/ppt/slides/slide4.xml" Id="R5dadfe03475440ce" /><Relationship Type="http://schemas.openxmlformats.org/officeDocument/2006/relationships/slide" Target="/ppt/slides/slide5.xml" Id="R919f4774fae04f86" /><Relationship Type="http://schemas.openxmlformats.org/officeDocument/2006/relationships/slide" Target="/ppt/slides/slide6.xml" Id="Rd8ed9b8d3ac348a6" /><Relationship Type="http://schemas.openxmlformats.org/officeDocument/2006/relationships/slide" Target="/ppt/slides/slide7.xml" Id="R8f4398837ef84867" /><Relationship Type="http://schemas.openxmlformats.org/officeDocument/2006/relationships/slide" Target="/ppt/slides/slide8.xml" Id="R31946bbbf6604808" /><Relationship Type="http://schemas.openxmlformats.org/officeDocument/2006/relationships/slide" Target="/ppt/slides/slide9.xml" Id="R94b088a685e54cd7" /><Relationship Type="http://schemas.openxmlformats.org/officeDocument/2006/relationships/slide" Target="/ppt/slides/slide10.xml" Id="R4c00eecb4c9c4c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fc7cfef0e04d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938c205a504c67" /><Relationship Type="http://schemas.openxmlformats.org/officeDocument/2006/relationships/notesMaster" Target="/ppt/notesMasters/notesMaster1.xml" Id="R95434b63e74140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d896c3166f4608" /><Relationship Type="http://schemas.openxmlformats.org/officeDocument/2006/relationships/notesMaster" Target="/ppt/notesMasters/notesMaster1.xml" Id="Ree1883e73c3249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259a435b834d87" /><Relationship Type="http://schemas.openxmlformats.org/officeDocument/2006/relationships/notesMaster" Target="/ppt/notesMasters/notesMaster1.xml" Id="R2bc1a62d42a046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6358384d004457" /><Relationship Type="http://schemas.openxmlformats.org/officeDocument/2006/relationships/notesMaster" Target="/ppt/notesMasters/notesMaster1.xml" Id="R2b34321088f148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74450bf5624a36" /><Relationship Type="http://schemas.openxmlformats.org/officeDocument/2006/relationships/notesMaster" Target="/ppt/notesMasters/notesMaster1.xml" Id="R6d06d99f459344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0152dd1b134b1e" /><Relationship Type="http://schemas.openxmlformats.org/officeDocument/2006/relationships/notesMaster" Target="/ppt/notesMasters/notesMaster1.xml" Id="Ra8b975024c9d41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f2e26440d64331" /><Relationship Type="http://schemas.openxmlformats.org/officeDocument/2006/relationships/notesMaster" Target="/ppt/notesMasters/notesMaster1.xml" Id="R600da22870df4b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a8d17e127545a3" /><Relationship Type="http://schemas.openxmlformats.org/officeDocument/2006/relationships/notesMaster" Target="/ppt/notesMasters/notesMaster1.xml" Id="R0631007012a04d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cb349834154add" /><Relationship Type="http://schemas.openxmlformats.org/officeDocument/2006/relationships/notesMaster" Target="/ppt/notesMasters/notesMaster1.xml" Id="Rf3deb23c7d0f46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26f05234e445e9" /><Relationship Type="http://schemas.openxmlformats.org/officeDocument/2006/relationships/notesMaster" Target="/ppt/notesMasters/notesMaster1.xml" Id="R6be36476899c4c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e9a03edeb74fb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af6227d6fb443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187f9af20546e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ff6a8652244e9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8cb01435cb489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c9304b88f249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F7DACC-BCA7-41F4-BC4C-D249BC5365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61185AE-7573-46B8-985C-467CCE1919F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62A4745-DFE7-42B3-B07C-DBE3852548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1AFFB6-5C56-403B-A01D-9F259FF6DE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6E05D3E-E612-46A4-AEDD-BA8BDEFE00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B97C3D-C47E-40B8-A05A-8F13AFB367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EFFCDD8-628F-4F54-AB0A-846B7B51DF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95F9B63-8085-4E16-9189-CA2ACA1E360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6D8AD8-D3BD-4347-B733-906EB822E1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1923E61-21D7-43FC-837E-6D40DF23CF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a76c4ed1a74d2a" /><Relationship Type="http://schemas.openxmlformats.org/officeDocument/2006/relationships/slideLayout" Target="/ppt/slideLayouts/slideLayout1.xml" Id="Redc25dda990b4ac7" /><Relationship Type="http://schemas.openxmlformats.org/officeDocument/2006/relationships/slideLayout" Target="/ppt/slideLayouts/slideLayout2.xml" Id="Rd9e0a7fad85f4446" /><Relationship Type="http://schemas.openxmlformats.org/officeDocument/2006/relationships/slideLayout" Target="/ppt/slideLayouts/slideLayout3.xml" Id="R6ed54a6866b3482c" /><Relationship Type="http://schemas.openxmlformats.org/officeDocument/2006/relationships/slideLayout" Target="/ppt/slideLayouts/slideLayout4.xml" Id="R8c95f446e4504c98" /><Relationship Type="http://schemas.openxmlformats.org/officeDocument/2006/relationships/slideLayout" Target="/ppt/slideLayouts/slideLayout5.xml" Id="R2b3b94621b4b442e" /><Relationship Type="http://schemas.openxmlformats.org/officeDocument/2006/relationships/slideLayout" Target="/ppt/slideLayouts/slideLayout6.xml" Id="R6a5d5fae42ec4e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c25dda990b4ac7"/>
    <p:sldLayoutId xmlns:r="http://schemas.openxmlformats.org/officeDocument/2006/relationships" id="2147483650" r:id="Rd9e0a7fad85f4446"/>
    <p:sldLayoutId xmlns:r="http://schemas.openxmlformats.org/officeDocument/2006/relationships" id="2147483651" r:id="R6ed54a6866b3482c"/>
    <p:sldLayoutId xmlns:r="http://schemas.openxmlformats.org/officeDocument/2006/relationships" id="2147483652" r:id="R8c95f446e4504c98"/>
    <p:sldLayoutId xmlns:r="http://schemas.openxmlformats.org/officeDocument/2006/relationships" id="2147483653" r:id="R2b3b94621b4b442e"/>
    <p:sldLayoutId xmlns:r="http://schemas.openxmlformats.org/officeDocument/2006/relationships" id="2147483654" r:id="R6a5d5fae42ec4e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1b8467384048d5" /><Relationship Type="http://schemas.openxmlformats.org/officeDocument/2006/relationships/image" Target="/ppt/media/image.png" Id="R6166a92ef11944b3" /><Relationship Type="http://schemas.openxmlformats.org/officeDocument/2006/relationships/notesSlide" Target="/ppt/notesSlides/notesSlide1.xml" Id="Rc66c9a6a9d2745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0d4bc2fdcd4bf1" /><Relationship Type="http://schemas.openxmlformats.org/officeDocument/2006/relationships/notesSlide" Target="/ppt/notesSlides/notesSlide2.xml" Id="R7ee59ebd646643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bd47ab316246b6" /><Relationship Type="http://schemas.openxmlformats.org/officeDocument/2006/relationships/notesSlide" Target="/ppt/notesSlides/notesSlide3.xml" Id="Rf2730f584dcc4f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cbf2f6cc074eda" /><Relationship Type="http://schemas.openxmlformats.org/officeDocument/2006/relationships/image" Target="/ppt/media/image2.png" Id="R0d52a03efc064366" /><Relationship Type="http://schemas.openxmlformats.org/officeDocument/2006/relationships/notesSlide" Target="/ppt/notesSlides/notesSlide4.xml" Id="R6d76f8766b8b49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cc141ed3884282" /><Relationship Type="http://schemas.openxmlformats.org/officeDocument/2006/relationships/image" Target="/ppt/media/image3.png" Id="R631d2f0aac9446d1" /><Relationship Type="http://schemas.openxmlformats.org/officeDocument/2006/relationships/notesSlide" Target="/ppt/notesSlides/notesSlide5.xml" Id="R78cebbdab0ec44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ac29b7a5d24694" /><Relationship Type="http://schemas.openxmlformats.org/officeDocument/2006/relationships/image" Target="/ppt/media/image4.png" Id="Rcd43ea2d784e486e" /><Relationship Type="http://schemas.openxmlformats.org/officeDocument/2006/relationships/notesSlide" Target="/ppt/notesSlides/notesSlide6.xml" Id="Rbbfd56da8e7e4f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031d11f1c94617" /><Relationship Type="http://schemas.openxmlformats.org/officeDocument/2006/relationships/image" Target="/ppt/media/image5.png" Id="R35b139c15bd34f04" /><Relationship Type="http://schemas.openxmlformats.org/officeDocument/2006/relationships/notesSlide" Target="/ppt/notesSlides/notesSlide7.xml" Id="Rabd4ff7360504f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dd6b5825ef449e" /><Relationship Type="http://schemas.openxmlformats.org/officeDocument/2006/relationships/image" Target="/ppt/media/image6.png" Id="R454074305be6478d" /><Relationship Type="http://schemas.openxmlformats.org/officeDocument/2006/relationships/notesSlide" Target="/ppt/notesSlides/notesSlide8.xml" Id="R739f3d74666e46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5fc3e3d39a4feb" /><Relationship Type="http://schemas.openxmlformats.org/officeDocument/2006/relationships/image" Target="/ppt/media/image7.png" Id="Re9e6883ce28a4a82" /><Relationship Type="http://schemas.openxmlformats.org/officeDocument/2006/relationships/notesSlide" Target="/ppt/notesSlides/notesSlide9.xml" Id="R884960b3695d4b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508472e1234561" /><Relationship Type="http://schemas.openxmlformats.org/officeDocument/2006/relationships/image" Target="/ppt/media/image8.png" Id="Rcdb77bec1aaf4fa0" /><Relationship Type="http://schemas.openxmlformats.org/officeDocument/2006/relationships/notesSlide" Target="/ppt/notesSlides/notesSlide10.xml" Id="R5b7beec071834e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B1FAF9-2924-4DF4-834E-D615AAE5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A1A1A6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A1A1A6"/>
                </a:solidFill>
              </a:defRPr>
            </a:pPr>
            <a:r>
              <a:rPr sz="1275" b="0" i="0">
                <a:solidFill>
                  <a:srgbClr val="A1A1A6"/>
                </a:solidFill>
              </a:rPr>
              <a:t>FinTechathon International Track / Topic 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DD137-876A-4304-98E7-E82D18E0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550" b="1" i="0">
                <a:solidFill>
                  <a:srgbClr val="F5F5F7"/>
                </a:solidFill>
              </a:defRPr>
            </a:defPPr>
          </a:lstStyle>
          <a:p xmlns:a="http://schemas.openxmlformats.org/drawingml/2006/main">
            <a:pPr algn="l">
              <a:defRPr sz="5550" b="1" i="0">
                <a:solidFill>
                  <a:srgbClr val="F5F5F7"/>
                </a:solidFill>
              </a:defRPr>
            </a:pPr>
            <a:r>
              <a:rPr sz="5550" b="1" i="0">
                <a:solidFill>
                  <a:srgbClr val="F5F5F7"/>
                </a:solidFill>
              </a:rPr>
              <a:t>Runway</a:t>
            </a:r>
          </a:p>
          <a:p xmlns:a="http://schemas.openxmlformats.org/drawingml/2006/main">
            <a:pPr algn="l">
              <a:defRPr sz="5550" b="1" i="0">
                <a:solidFill>
                  <a:srgbClr val="F5F5F7"/>
                </a:solidFill>
              </a:defRPr>
            </a:pPr>
            <a:r>
              <a:rPr sz="5550" b="1" i="0">
                <a:solidFill>
                  <a:srgbClr val="F5F5F7"/>
                </a:solidFill>
              </a:rPr>
              <a:t>Guard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DF0D9-708A-49D2-B8C2-2B61E3D2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0" i="0">
                <a:solidFill>
                  <a:srgbClr val="D2D2D7"/>
                </a:solidFill>
              </a:defRPr>
            </a:defPPr>
          </a:lstStyle>
          <a:p xmlns:a="http://schemas.openxmlformats.org/drawingml/2006/main">
            <a:pPr algn="l">
              <a:defRPr sz="2250" b="0" i="0">
                <a:solidFill>
                  <a:srgbClr val="D2D2D7"/>
                </a:solidFill>
              </a:defRPr>
            </a:pPr>
            <a:r>
              <a:rPr sz="2250" b="0" i="0">
                <a:solidFill>
                  <a:srgbClr val="D2D2D7"/>
                </a:solidFill>
              </a:rPr>
              <a:t>AI finance copilot for small businesses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082B7-E1B5-479E-B04F-49385144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 i="0">
                <a:solidFill>
                  <a:srgbClr val="86868B"/>
                </a:solidFill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86868B"/>
                </a:solidFill>
              </a:defRPr>
            </a:pPr>
            <a:r>
              <a:rPr sz="1425" b="0" i="0">
                <a:solidFill>
                  <a:srgbClr val="86868B"/>
                </a:solidFill>
              </a:rPr>
              <a:t>Forecast cash. Reconcile activity. Prepare controlled actions.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6F88D9-93E4-4018-8F25-79FA0369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38150"/>
            <a:ext cx="5676900" cy="590550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151517"/>
          </a:solidFill>
          <a:ln xmlns:a="http://schemas.openxmlformats.org/drawingml/2006/main" w="9525">
            <a:solidFill>
              <a:srgbClr val="333336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D0FDF-80CA-47B3-B127-13B2B22DCE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66a92ef11944b3"/>
          <a:stretch xmlns:a="http://schemas.openxmlformats.org/drawingml/2006/main"/>
        </p:blipFill>
        <p:spPr>
          <a:xfrm xmlns:a="http://schemas.openxmlformats.org/drawingml/2006/main">
            <a:off x="6230461" y="609600"/>
            <a:ext cx="4988879" cy="5562600"/>
          </a:xfrm>
          <a:prstGeom xmlns:a="http://schemas.openxmlformats.org/drawingml/2006/main" prst="roundRect">
            <a:avLst>
              <a:gd name="adj" fmla="val 213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BB208F-F7CD-4729-BA9B-B6E2208A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 i="0">
                <a:solidFill>
                  <a:srgbClr val="6E6E73"/>
                </a:solidFill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6E6E73"/>
                </a:solidFill>
              </a:defRPr>
            </a:pPr>
            <a:r>
              <a:rPr sz="975" b="0" i="0">
                <a:solidFill>
                  <a:srgbClr val="6E6E73"/>
                </a:solidFill>
              </a:rPr>
              <a:t>Competition prototype / Synthetic financial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3F0FFC-D44D-4753-B59B-2B986345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0" i="0">
                <a:solidFill>
                  <a:srgbClr val="77777A"/>
                </a:solidFill>
              </a:defRPr>
            </a:defPPr>
          </a:lstStyle>
          <a:p xmlns:a="http://schemas.openxmlformats.org/drawingml/2006/main">
            <a:pPr algn="r">
              <a:defRPr sz="825" b="0" i="0">
                <a:solidFill>
                  <a:srgbClr val="77777A"/>
                </a:solidFill>
              </a:defRPr>
            </a:pPr>
            <a:r>
              <a:rPr sz="825" b="0" i="0">
                <a:solidFill>
                  <a:srgbClr val="77777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722009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B1E4EA-2C83-41D2-A279-CE306172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000" b="1" i="0">
                <a:solidFill>
                  <a:srgbClr val="161617"/>
                </a:solidFill>
              </a:defRPr>
            </a:defPPr>
          </a:lstStyle>
          <a:p xmlns:a="http://schemas.openxmlformats.org/drawingml/2006/main">
            <a:pPr algn="l">
              <a:defRPr sz="3000" b="1" i="0">
                <a:solidFill>
                  <a:srgbClr val="161617"/>
                </a:solidFill>
              </a:defRPr>
            </a:pPr>
            <a:r>
              <a:rPr sz="3000" b="1" i="0">
                <a:solidFill>
                  <a:srgbClr val="161617"/>
                </a:solidFill>
              </a:rPr>
              <a:t>The liquidity risk arrives before the owner has a clear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17E1B2-2B33-4FA4-BB8D-03567440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86868B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86868B"/>
                </a:solidFill>
              </a:defRPr>
            </a:pPr>
            <a:r>
              <a:rPr sz="1275" b="0" i="0">
                <a:solidFill>
                  <a:srgbClr val="86868B"/>
                </a:solidFill>
              </a:rPr>
              <a:t>Illustrative Harbor &amp; Bean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AC5684-0604-45B6-B81C-D0BAE644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600" b="1" i="0">
                <a:solidFill>
                  <a:srgbClr val="6877E8"/>
                </a:solidFill>
              </a:defRPr>
            </a:defPPr>
          </a:lstStyle>
          <a:p xmlns:a="http://schemas.openxmlformats.org/drawingml/2006/main">
            <a:pPr algn="l">
              <a:defRPr sz="6600" b="1" i="0">
                <a:solidFill>
                  <a:srgbClr val="6877E8"/>
                </a:solidFill>
              </a:defRPr>
            </a:pPr>
            <a:r>
              <a:rPr sz="6600" b="1" i="0">
                <a:solidFill>
                  <a:srgbClr val="6877E8"/>
                </a:solidFill>
              </a:rPr>
              <a:t>$3,840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A891E5-1BC5-4DED-8E33-0DCF6B62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 i="0">
                <a:solidFill>
                  <a:srgbClr val="515154"/>
                </a:solidFill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515154"/>
                </a:solidFill>
              </a:defRPr>
            </a:pPr>
            <a:r>
              <a:rPr sz="1800" b="0" i="0">
                <a:solidFill>
                  <a:srgbClr val="515154"/>
                </a:solidFill>
              </a:rPr>
              <a:t>projected gap below the $12,000 cash buffer in Week 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3D5DE-5576-428B-8954-013B87EB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3865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E2499-F69A-4F0C-A35B-E936E892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850" b="1" i="0">
                <a:solidFill>
                  <a:srgbClr val="161617"/>
                </a:solidFill>
              </a:defRPr>
            </a:defPPr>
          </a:lstStyle>
          <a:p xmlns:a="http://schemas.openxmlformats.org/drawingml/2006/main">
            <a:pPr algn="l">
              <a:defRPr sz="2850" b="1" i="0">
                <a:solidFill>
                  <a:srgbClr val="161617"/>
                </a:solidFill>
              </a:defRPr>
            </a:pPr>
            <a:r>
              <a:rPr sz="2850" b="1" i="0">
                <a:solidFill>
                  <a:srgbClr val="161617"/>
                </a:solidFill>
              </a:rPr>
              <a:t>$42,860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6157EE-6202-4C05-997A-3A14CC72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86868B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86868B"/>
                </a:solidFill>
              </a:defRPr>
            </a:pPr>
            <a:r>
              <a:rPr sz="1275" b="0" i="0">
                <a:solidFill>
                  <a:srgbClr val="86868B"/>
                </a:solidFill>
              </a:rPr>
              <a:t>starting demo cash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C70A3-821F-4DA1-AD77-CCAFD8E0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012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850" b="1" i="0">
                <a:solidFill>
                  <a:srgbClr val="161617"/>
                </a:solidFill>
              </a:defRPr>
            </a:defPPr>
          </a:lstStyle>
          <a:p xmlns:a="http://schemas.openxmlformats.org/drawingml/2006/main">
            <a:pPr algn="l">
              <a:defRPr sz="2850" b="1" i="0">
                <a:solidFill>
                  <a:srgbClr val="161617"/>
                </a:solidFill>
              </a:defRPr>
            </a:pPr>
            <a:r>
              <a:rPr sz="2850" b="1" i="0">
                <a:solidFill>
                  <a:srgbClr val="161617"/>
                </a:solidFill>
              </a:rPr>
              <a:t>14 days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41D740-DCE0-4385-842D-46100712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3435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86868B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86868B"/>
                </a:solidFill>
              </a:defRPr>
            </a:pPr>
            <a:r>
              <a:rPr sz="1275" b="0" i="0">
                <a:solidFill>
                  <a:srgbClr val="86868B"/>
                </a:solidFill>
              </a:rPr>
              <a:t>until the modeled buffer gap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B9EC79-8F4A-4EBB-BD27-4AE1CEA6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1012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850" b="1" i="0">
                <a:solidFill>
                  <a:srgbClr val="161617"/>
                </a:solidFill>
              </a:defRPr>
            </a:defPPr>
          </a:lstStyle>
          <a:p xmlns:a="http://schemas.openxmlformats.org/drawingml/2006/main">
            <a:pPr algn="l">
              <a:defRPr sz="2850" b="1" i="0">
                <a:solidFill>
                  <a:srgbClr val="161617"/>
                </a:solidFill>
              </a:defRPr>
            </a:pPr>
            <a:r>
              <a:rPr sz="2850" b="1" i="0">
                <a:solidFill>
                  <a:srgbClr val="161617"/>
                </a:solidFill>
              </a:rPr>
              <a:t>$7,250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67B932-7E22-4E27-A50A-D2A69DB7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3435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86868B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86868B"/>
                </a:solidFill>
              </a:defRPr>
            </a:pPr>
            <a:r>
              <a:rPr sz="1275" b="0" i="0">
                <a:solidFill>
                  <a:srgbClr val="86868B"/>
                </a:solidFill>
              </a:rPr>
              <a:t>overdue Northstar receivable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9349C6-3B55-453E-9093-1296D3BB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 i="0">
                <a:solidFill>
                  <a:srgbClr val="A1A1A6"/>
                </a:solidFill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A1A1A6"/>
                </a:solidFill>
              </a:defRPr>
            </a:pPr>
            <a:r>
              <a:rPr sz="975" b="0" i="0">
                <a:solidFill>
                  <a:srgbClr val="A1A1A6"/>
                </a:solidFill>
              </a:rPr>
              <a:t>All figures are synthetic forecast assumptions, not audited balances.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1CA6C3-1BD2-4726-B0DC-7D5BDC22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0" i="0">
                <a:solidFill>
                  <a:srgbClr val="A1A1A6"/>
                </a:solidFill>
              </a:defRPr>
            </a:defPPr>
          </a:lstStyle>
          <a:p xmlns:a="http://schemas.openxmlformats.org/drawingml/2006/main">
            <a:pPr algn="r">
              <a:defRPr sz="825" b="0" i="0">
                <a:solidFill>
                  <a:srgbClr val="A1A1A6"/>
                </a:solidFill>
              </a:defRPr>
            </a:pPr>
            <a:r>
              <a:rPr sz="825" b="0" i="0">
                <a:solidFill>
                  <a:srgbClr val="A1A1A6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632125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AAA106-7257-4928-B0F1-9C75CCA5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 i="0">
                <a:solidFill>
                  <a:srgbClr val="161617"/>
                </a:solidFill>
              </a:defRPr>
            </a:defPPr>
          </a:lstStyle>
          <a:p xmlns:a="http://schemas.openxmlformats.org/drawingml/2006/main">
            <a:pPr algn="l">
              <a:defRPr sz="3150" b="1" i="0">
                <a:solidFill>
                  <a:srgbClr val="161617"/>
                </a:solidFill>
              </a:defRPr>
            </a:pPr>
            <a:r>
              <a:rPr sz="3150" b="1" i="0">
                <a:solidFill>
                  <a:srgbClr val="161617"/>
                </a:solidFill>
              </a:rPr>
              <a:t>One normalized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75AFF-2367-436A-AF6F-EFE08F92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 i="0">
                <a:solidFill>
                  <a:srgbClr val="515154"/>
                </a:solidFill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515154"/>
                </a:solidFill>
              </a:defRPr>
            </a:pPr>
            <a:r>
              <a:rPr sz="1575" b="0" i="0">
                <a:solidFill>
                  <a:srgbClr val="515154"/>
                </a:solidFill>
              </a:rPr>
              <a:t>The agent reasons over one bounded ledger and returns structured evidence for every recommendation.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06789-0FA1-4A99-B6D9-A5BBD793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48000"/>
            <a:ext cx="923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45518-1E86-453E-B071-19456D39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7429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54B709-91E9-455C-A5BC-B90BE101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 i="0">
                <a:solidFill>
                  <a:srgbClr val="6877E8"/>
                </a:solidFill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6877E8"/>
                </a:solidFill>
              </a:defRPr>
            </a:pPr>
            <a:r>
              <a:rPr sz="1350" b="1" i="0">
                <a:solidFill>
                  <a:srgbClr val="6877E8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E4CC7-4B7E-4A57-801D-C3E4BE0E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161617"/>
                </a:solidFill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161617"/>
                </a:solidFill>
              </a:defRPr>
            </a:pPr>
            <a:r>
              <a:rPr sz="2100" b="1" i="0">
                <a:solidFill>
                  <a:srgbClr val="161617"/>
                </a:solidFill>
              </a:rPr>
              <a:t>Connect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9122F-D728-45C0-9761-6493E73B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2143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15154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515154"/>
                </a:solidFill>
              </a:defRPr>
            </a:pPr>
            <a:r>
              <a:rPr sz="1275" b="0" i="0">
                <a:solidFill>
                  <a:srgbClr val="515154"/>
                </a:solidFill>
              </a:rPr>
              <a:t>Banking, payments, accounting and CSV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D0298-A8ED-454F-AC3C-142175ED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67000"/>
            <a:ext cx="7429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D1D8B-AD2D-487E-9335-FAC43EF9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67025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 i="0">
                <a:solidFill>
                  <a:srgbClr val="6877E8"/>
                </a:solidFill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6877E8"/>
                </a:solidFill>
              </a:defRPr>
            </a:pPr>
            <a:r>
              <a:rPr sz="1350" b="1" i="0">
                <a:solidFill>
                  <a:srgbClr val="6877E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2AB4D-7E89-446E-8332-27C59DEE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7528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161617"/>
                </a:solidFill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161617"/>
                </a:solidFill>
              </a:defRPr>
            </a:pPr>
            <a:r>
              <a:rPr sz="2100" b="1" i="0">
                <a:solidFill>
                  <a:srgbClr val="161617"/>
                </a:solidFill>
              </a:rPr>
              <a:t>Normalize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ECD0F0-7A0F-4548-851F-9E30995C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238625"/>
            <a:ext cx="2143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15154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515154"/>
                </a:solidFill>
              </a:defRPr>
            </a:pPr>
            <a:r>
              <a:rPr sz="1275" b="0" i="0">
                <a:solidFill>
                  <a:srgbClr val="515154"/>
                </a:solidFill>
              </a:rPr>
              <a:t>Validate rows and hold uncertain activity for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863F44-274B-4255-A4DA-EA90B75F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67000"/>
            <a:ext cx="7429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4707E9-BF6D-4DFB-A440-8BDE3AD7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67025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 i="0">
                <a:solidFill>
                  <a:srgbClr val="6877E8"/>
                </a:solidFill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6877E8"/>
                </a:solidFill>
              </a:defRPr>
            </a:pPr>
            <a:r>
              <a:rPr sz="1350" b="1" i="0">
                <a:solidFill>
                  <a:srgbClr val="6877E8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7A479C-BA26-4F9B-893A-F350C1D5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528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161617"/>
                </a:solidFill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161617"/>
                </a:solidFill>
              </a:defRPr>
            </a:pPr>
            <a:r>
              <a:rPr sz="2100" b="1" i="0">
                <a:solidFill>
                  <a:srgbClr val="161617"/>
                </a:solidFill>
              </a:rPr>
              <a:t>Reason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E58E2D-DABB-4195-BC70-1563B488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38625"/>
            <a:ext cx="2143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15154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515154"/>
                </a:solidFill>
              </a:defRPr>
            </a:pPr>
            <a:r>
              <a:rPr sz="1275" b="0" i="0">
                <a:solidFill>
                  <a:srgbClr val="515154"/>
                </a:solidFill>
              </a:rPr>
              <a:t>Use allowlisted finance tools against the current ledger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C311CC-AC0A-4DD3-B315-5D474DEE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667000"/>
            <a:ext cx="7429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7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98A715-2035-45D1-95A5-C89874F4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867025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 i="0">
                <a:solidFill>
                  <a:srgbClr val="F5F5F7"/>
                </a:solidFill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5F5F7"/>
                </a:solidFill>
              </a:defRPr>
            </a:pPr>
            <a:r>
              <a:rPr sz="1350" b="1" i="0">
                <a:solidFill>
                  <a:srgbClr val="F5F5F7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74C11F-38CE-44A3-ACC9-E10E0D49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7528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161617"/>
                </a:solidFill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161617"/>
                </a:solidFill>
              </a:defRPr>
            </a:pPr>
            <a:r>
              <a:rPr sz="2100" b="1" i="0">
                <a:solidFill>
                  <a:srgbClr val="161617"/>
                </a:solidFill>
              </a:rPr>
              <a:t>Approve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011B77-8C3E-4DBA-AD9A-69EA572A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238625"/>
            <a:ext cx="2143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15154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515154"/>
                </a:solidFill>
              </a:defRPr>
            </a:pPr>
            <a:r>
              <a:rPr sz="1275" b="0" i="0">
                <a:solidFill>
                  <a:srgbClr val="515154"/>
                </a:solidFill>
              </a:rPr>
              <a:t>Keep every consequential action behind owner confirmation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2F2CEB-8B5F-4B58-97B2-096BE310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E5735B"/>
                </a:solidFill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E5735B"/>
                </a:solidFill>
              </a:defRPr>
            </a:pPr>
            <a:r>
              <a:rPr sz="1275" b="1" i="0">
                <a:solidFill>
                  <a:srgbClr val="E5735B"/>
                </a:solidFill>
              </a:rPr>
              <a:t>No payment, email or ledger-posting tool exists in the execution allowlist.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58A5C4-74F7-475B-AE02-C549A431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0" i="0">
                <a:solidFill>
                  <a:srgbClr val="A1A1A6"/>
                </a:solidFill>
              </a:defRPr>
            </a:defPPr>
          </a:lstStyle>
          <a:p xmlns:a="http://schemas.openxmlformats.org/drawingml/2006/main">
            <a:pPr algn="r">
              <a:defRPr sz="825" b="0" i="0">
                <a:solidFill>
                  <a:srgbClr val="A1A1A6"/>
                </a:solidFill>
              </a:defRPr>
            </a:pPr>
            <a:r>
              <a:rPr sz="825" b="0" i="0">
                <a:solidFill>
                  <a:srgbClr val="A1A1A6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893242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EEDBA-43B2-4006-AA27-C1180008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 i="0">
                <a:solidFill>
                  <a:srgbClr val="F5F5F7"/>
                </a:solidFill>
              </a:defRPr>
            </a:defPPr>
          </a:lstStyle>
          <a:p xmlns:a="http://schemas.openxmlformats.org/drawingml/2006/main">
            <a:pPr algn="l">
              <a:defRPr sz="3150" b="1" i="0">
                <a:solidFill>
                  <a:srgbClr val="F5F5F7"/>
                </a:solidFill>
              </a:defRPr>
            </a:pPr>
            <a:r>
              <a:rPr sz="3150" b="1" i="0">
                <a:solidFill>
                  <a:srgbClr val="F5F5F7"/>
                </a:solidFill>
              </a:rPr>
              <a:t>Cash risk becomes visible week by week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EF7BA-18E5-4F62-8EB7-1A74FF07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0" i="0">
                <a:solidFill>
                  <a:srgbClr val="A1A1A6"/>
                </a:solidFill>
              </a:defRPr>
            </a:defPPr>
          </a:lstStyle>
          <a:p xmlns:a="http://schemas.openxmlformats.org/drawingml/2006/main">
            <a:pPr algn="l">
              <a:defRPr sz="1875" b="0" i="0">
                <a:solidFill>
                  <a:srgbClr val="A1A1A6"/>
                </a:solidFill>
              </a:defRPr>
            </a:pPr>
            <a:r>
              <a:rPr sz="1875" b="0" i="0">
                <a:solidFill>
                  <a:srgbClr val="A1A1A6"/>
                </a:solidFill>
              </a:rPr>
              <a:t>13-week outlook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C5A7D9-7C62-4977-B6D6-1D01A403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800" b="1" i="0">
                <a:solidFill>
                  <a:srgbClr val="E5735B"/>
                </a:solidFill>
              </a:defRPr>
            </a:defPPr>
          </a:lstStyle>
          <a:p xmlns:a="http://schemas.openxmlformats.org/drawingml/2006/main">
            <a:pPr algn="l">
              <a:defRPr sz="4800" b="1" i="0">
                <a:solidFill>
                  <a:srgbClr val="E5735B"/>
                </a:solidFill>
              </a:defRPr>
            </a:pPr>
            <a:r>
              <a:rPr sz="4800" b="1" i="0">
                <a:solidFill>
                  <a:srgbClr val="E5735B"/>
                </a:solidFill>
              </a:rPr>
              <a:t>$3,840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174762-D1E2-466D-BA51-DE1B358F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 i="0">
                <a:solidFill>
                  <a:srgbClr val="A1A1A6"/>
                </a:solidFill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A1A1A6"/>
                </a:solidFill>
              </a:defRPr>
            </a:pPr>
            <a:r>
              <a:rPr sz="1500" b="0" i="0">
                <a:solidFill>
                  <a:srgbClr val="A1A1A6"/>
                </a:solidFill>
              </a:rPr>
              <a:t>buffer gap under the baseline forecast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1E407-936F-4B26-A3F8-9E53C983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3524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 i="0">
                <a:solidFill>
                  <a:srgbClr val="D2D2D7"/>
                </a:solidFill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D2D2D7"/>
                </a:solidFill>
              </a:defRPr>
            </a:pPr>
            <a:r>
              <a:rPr sz="1425" b="0" i="0">
                <a:solidFill>
                  <a:srgbClr val="D2D2D7"/>
                </a:solidFill>
              </a:rPr>
              <a:t>Scenario controls model collection and payment-date changes without changing actual cash.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D1BD9D-5FF4-4512-AA1D-5B9397BC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257300"/>
            <a:ext cx="6953250" cy="4762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51517"/>
          </a:solidFill>
          <a:ln xmlns:a="http://schemas.openxmlformats.org/drawingml/2006/main" w="9525">
            <a:solidFill>
              <a:srgbClr val="333336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98BB4-03EF-42FE-A459-4B519C3A9A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52a03efc064366"/>
          <a:stretch xmlns:a="http://schemas.openxmlformats.org/drawingml/2006/main"/>
        </p:blipFill>
        <p:spPr>
          <a:xfrm xmlns:a="http://schemas.openxmlformats.org/drawingml/2006/main">
            <a:off x="4852797" y="1419225"/>
            <a:ext cx="6391656" cy="4438650"/>
          </a:xfrm>
          <a:prstGeom xmlns:a="http://schemas.openxmlformats.org/drawingml/2006/main" prst="roundRect">
            <a:avLst>
              <a:gd name="adj" fmla="val 257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C1BF78-B687-4466-A8C3-41E07B3F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 i="0">
                <a:solidFill>
                  <a:srgbClr val="6E6E73"/>
                </a:solidFill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6E6E73"/>
                </a:solidFill>
              </a:defRPr>
            </a:pPr>
            <a:r>
              <a:rPr sz="975" b="0" i="0">
                <a:solidFill>
                  <a:srgbClr val="6E6E73"/>
                </a:solidFill>
              </a:rPr>
              <a:t>Synthetic demo forecast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77ADDB-DA6D-47BB-B0A0-1DF500AD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0" i="0">
                <a:solidFill>
                  <a:srgbClr val="77777A"/>
                </a:solidFill>
              </a:defRPr>
            </a:defPPr>
          </a:lstStyle>
          <a:p xmlns:a="http://schemas.openxmlformats.org/drawingml/2006/main">
            <a:pPr algn="r">
              <a:defRPr sz="825" b="0" i="0">
                <a:solidFill>
                  <a:srgbClr val="77777A"/>
                </a:solidFill>
              </a:defRPr>
            </a:pPr>
            <a:r>
              <a:rPr sz="825" b="0" i="0">
                <a:solidFill>
                  <a:srgbClr val="77777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697335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5F4247-D25F-43A0-BE68-80370C13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 i="0">
                <a:solidFill>
                  <a:srgbClr val="161617"/>
                </a:solidFill>
              </a:defRPr>
            </a:defPPr>
          </a:lstStyle>
          <a:p xmlns:a="http://schemas.openxmlformats.org/drawingml/2006/main">
            <a:pPr algn="l">
              <a:defRPr sz="3150" b="1" i="0">
                <a:solidFill>
                  <a:srgbClr val="161617"/>
                </a:solidFill>
              </a:defRPr>
            </a:pPr>
            <a:r>
              <a:rPr sz="3150" b="1" i="0">
                <a:solidFill>
                  <a:srgbClr val="161617"/>
                </a:solidFill>
              </a:rPr>
              <a:t>The agent prepares safe, reversible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1C7D4-A806-4A4A-A714-840269CB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350" b="1" i="0">
                <a:solidFill>
                  <a:srgbClr val="6877E8"/>
                </a:solidFill>
              </a:defRPr>
            </a:defPPr>
          </a:lstStyle>
          <a:p xmlns:a="http://schemas.openxmlformats.org/drawingml/2006/main">
            <a:pPr algn="l">
              <a:defRPr sz="4350" b="1" i="0">
                <a:solidFill>
                  <a:srgbClr val="6877E8"/>
                </a:solidFill>
              </a:defRPr>
            </a:pPr>
            <a:r>
              <a:rPr sz="4350" b="1" i="0">
                <a:solidFill>
                  <a:srgbClr val="6877E8"/>
                </a:solidFill>
              </a:rPr>
              <a:t>$7,250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6160B-6F9E-4EE3-BA29-1F3945FD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161617"/>
                </a:solidFill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161617"/>
                </a:solidFill>
              </a:defRPr>
            </a:pPr>
            <a:r>
              <a:rPr sz="1650" b="1" i="0">
                <a:solidFill>
                  <a:srgbClr val="161617"/>
                </a:solidFill>
              </a:rPr>
              <a:t>Northstar collection draft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8D1EB2-219F-47FB-B0BC-FAE630DA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3286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 i="0">
                <a:solidFill>
                  <a:srgbClr val="515154"/>
                </a:solidFill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515154"/>
                </a:solidFill>
              </a:defRPr>
            </a:pPr>
            <a:r>
              <a:rPr sz="1425" b="0" i="0">
                <a:solidFill>
                  <a:srgbClr val="515154"/>
                </a:solidFill>
              </a:rPr>
              <a:t>The tool locates the overdue invoice, drafts a fact-based reminder and requests owner approval. Delivery remains unauthorized.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4086C-AB4A-460B-B2B9-27BBAC82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27A88E"/>
                </a:solidFill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27A88E"/>
                </a:solidFill>
              </a:defRPr>
            </a:pPr>
            <a:r>
              <a:rPr sz="1200" b="1" i="0">
                <a:solidFill>
                  <a:srgbClr val="27A88E"/>
                </a:solidFill>
              </a:rPr>
              <a:t>LLM planner optional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3F09B-D501-4C9C-9F12-6A9A883B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3286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86868B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86868B"/>
                </a:solidFill>
              </a:defRPr>
            </a:pPr>
            <a:r>
              <a:rPr sz="1275" b="0" i="0">
                <a:solidFill>
                  <a:srgbClr val="86868B"/>
                </a:solidFill>
              </a:rPr>
              <a:t>The same policy tools work with a deterministic local agent for reproducible judging.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E2508-FAEC-433C-8124-58E98B66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38250"/>
            <a:ext cx="7096125" cy="485775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5E281-28B9-41C6-9C03-A28710D847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1d2f0aac9446d1"/>
          <a:stretch xmlns:a="http://schemas.openxmlformats.org/drawingml/2006/main"/>
        </p:blipFill>
        <p:spPr>
          <a:xfrm xmlns:a="http://schemas.openxmlformats.org/drawingml/2006/main">
            <a:off x="5962116" y="1409700"/>
            <a:ext cx="4049193" cy="4514850"/>
          </a:xfrm>
          <a:prstGeom xmlns:a="http://schemas.openxmlformats.org/drawingml/2006/main" prst="roundRect">
            <a:avLst>
              <a:gd name="adj" fmla="val 253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80483-290B-4866-9DB0-B915795E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0" i="0">
                <a:solidFill>
                  <a:srgbClr val="A1A1A6"/>
                </a:solidFill>
              </a:defRPr>
            </a:defPPr>
          </a:lstStyle>
          <a:p xmlns:a="http://schemas.openxmlformats.org/drawingml/2006/main">
            <a:pPr algn="r">
              <a:defRPr sz="825" b="0" i="0">
                <a:solidFill>
                  <a:srgbClr val="A1A1A6"/>
                </a:solidFill>
              </a:defRPr>
            </a:pPr>
            <a:r>
              <a:rPr sz="825" b="0" i="0">
                <a:solidFill>
                  <a:srgbClr val="A1A1A6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689454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371792-9244-48D9-94A2-355165E7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 i="0">
                <a:solidFill>
                  <a:srgbClr val="F5F5F7"/>
                </a:solidFill>
              </a:defRPr>
            </a:defPPr>
          </a:lstStyle>
          <a:p xmlns:a="http://schemas.openxmlformats.org/drawingml/2006/main">
            <a:pPr algn="l">
              <a:defRPr sz="3150" b="1" i="0">
                <a:solidFill>
                  <a:srgbClr val="F5F5F7"/>
                </a:solidFill>
              </a:defRPr>
            </a:pPr>
            <a:r>
              <a:rPr sz="3150" b="1" i="0">
                <a:solidFill>
                  <a:srgbClr val="F5F5F7"/>
                </a:solidFill>
              </a:rPr>
              <a:t>Consequential actions wait for the owner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1AAC3-F5AA-4F98-8067-D2A0D183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7372350" cy="4762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51517"/>
          </a:solidFill>
          <a:ln xmlns:a="http://schemas.openxmlformats.org/drawingml/2006/main" w="9525">
            <a:solidFill>
              <a:srgbClr val="333336"/>
            </a:solidFill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0D042-A771-4AD3-949D-26542DC44C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3ea2d784e486e"/>
          <a:stretch xmlns:a="http://schemas.openxmlformats.org/drawingml/2006/main"/>
        </p:blipFill>
        <p:spPr>
          <a:xfrm xmlns:a="http://schemas.openxmlformats.org/drawingml/2006/main">
            <a:off x="1170813" y="1524000"/>
            <a:ext cx="6364224" cy="4419600"/>
          </a:xfrm>
          <a:prstGeom xmlns:a="http://schemas.openxmlformats.org/drawingml/2006/main" prst="roundRect">
            <a:avLst>
              <a:gd name="adj" fmla="val 2586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FCAAA-FCE5-4AB6-8BBD-B90C998B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52400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500" b="1" i="0">
                <a:solidFill>
                  <a:srgbClr val="F5F5F7"/>
                </a:solidFill>
              </a:defRPr>
            </a:defPPr>
          </a:lstStyle>
          <a:p xmlns:a="http://schemas.openxmlformats.org/drawingml/2006/main">
            <a:pPr algn="l">
              <a:defRPr sz="4500" b="1" i="0">
                <a:solidFill>
                  <a:srgbClr val="F5F5F7"/>
                </a:solidFill>
              </a:defRPr>
            </a:pPr>
            <a:r>
              <a:rPr sz="4500" b="1" i="0">
                <a:solidFill>
                  <a:srgbClr val="F5F5F7"/>
                </a:solidFill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0AFA6-F033-4619-BECF-7EEDC4FD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2098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 i="0">
                <a:solidFill>
                  <a:srgbClr val="A1A1A6"/>
                </a:solidFill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A1A1A6"/>
                </a:solidFill>
              </a:defRPr>
            </a:pPr>
            <a:r>
              <a:rPr sz="1425" b="0" i="0">
                <a:solidFill>
                  <a:srgbClr val="A1A1A6"/>
                </a:solidFill>
              </a:rPr>
              <a:t>actions waiting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D1EE6-C924-45A9-A4F1-84A85356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00350"/>
            <a:ext cx="243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3B0B6-A6B2-4C9C-97FD-11CF0185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670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500" b="1" i="0">
                <a:solidFill>
                  <a:srgbClr val="E5735B"/>
                </a:solidFill>
              </a:defRPr>
            </a:defPPr>
          </a:lstStyle>
          <a:p xmlns:a="http://schemas.openxmlformats.org/drawingml/2006/main">
            <a:pPr algn="l">
              <a:defRPr sz="4500" b="1" i="0">
                <a:solidFill>
                  <a:srgbClr val="E5735B"/>
                </a:solidFill>
              </a:defRPr>
            </a:pPr>
            <a:r>
              <a:rPr sz="4500" b="1" i="0">
                <a:solidFill>
                  <a:srgbClr val="E5735B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06259-FE52-467E-B17A-0B69CF32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7528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 i="0">
                <a:solidFill>
                  <a:srgbClr val="A1A1A6"/>
                </a:solidFill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A1A1A6"/>
                </a:solidFill>
              </a:defRPr>
            </a:pPr>
            <a:r>
              <a:rPr sz="1425" b="0" i="0">
                <a:solidFill>
                  <a:srgbClr val="A1A1A6"/>
                </a:solidFill>
              </a:rPr>
              <a:t>bank-change request blocked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3C050F-8C42-46B6-859C-8A7AE17B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476750"/>
            <a:ext cx="243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C1722-C37B-4647-AC8A-39C1058A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6250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500" b="1" i="0">
                <a:solidFill>
                  <a:srgbClr val="27A88E"/>
                </a:solidFill>
              </a:defRPr>
            </a:defPPr>
          </a:lstStyle>
          <a:p xmlns:a="http://schemas.openxmlformats.org/drawingml/2006/main">
            <a:pPr algn="l">
              <a:defRPr sz="4500" b="1" i="0">
                <a:solidFill>
                  <a:srgbClr val="27A88E"/>
                </a:solidFill>
              </a:defRPr>
            </a:pPr>
            <a:r>
              <a:rPr sz="4500" b="1" i="0">
                <a:solidFill>
                  <a:srgbClr val="27A88E"/>
                </a:solidFill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22ADE4-22AF-4347-881D-083C5C57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5448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 i="0">
                <a:solidFill>
                  <a:srgbClr val="A1A1A6"/>
                </a:solidFill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A1A1A6"/>
                </a:solidFill>
              </a:defRPr>
            </a:pPr>
            <a:r>
              <a:rPr sz="1425" b="0" i="0">
                <a:solidFill>
                  <a:srgbClr val="A1A1A6"/>
                </a:solidFill>
              </a:rPr>
              <a:t>external actions executed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53C5CF-BC08-49DB-9D98-C59400EB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0" i="0">
                <a:solidFill>
                  <a:srgbClr val="77777A"/>
                </a:solidFill>
              </a:defRPr>
            </a:defPPr>
          </a:lstStyle>
          <a:p xmlns:a="http://schemas.openxmlformats.org/drawingml/2006/main">
            <a:pPr algn="r">
              <a:defRPr sz="825" b="0" i="0">
                <a:solidFill>
                  <a:srgbClr val="77777A"/>
                </a:solidFill>
              </a:defRPr>
            </a:pPr>
            <a:r>
              <a:rPr sz="825" b="0" i="0">
                <a:solidFill>
                  <a:srgbClr val="77777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569812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7883F7-B03A-47CA-A0BD-23414434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 i="0">
                <a:solidFill>
                  <a:srgbClr val="161617"/>
                </a:solidFill>
              </a:defRPr>
            </a:defPPr>
          </a:lstStyle>
          <a:p xmlns:a="http://schemas.openxmlformats.org/drawingml/2006/main">
            <a:pPr algn="l">
              <a:defRPr sz="3150" b="1" i="0">
                <a:solidFill>
                  <a:srgbClr val="161617"/>
                </a:solidFill>
              </a:defRPr>
            </a:pPr>
            <a:r>
              <a:rPr sz="3150" b="1" i="0">
                <a:solidFill>
                  <a:srgbClr val="161617"/>
                </a:solidFill>
              </a:rPr>
              <a:t>Permission tiers define the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C7330-1EA5-4C9C-82C6-0C31E79B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1" i="0">
                <a:solidFill>
                  <a:srgbClr val="6877E8"/>
                </a:solidFill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6877E8"/>
                </a:solidFill>
              </a:defRPr>
            </a:pPr>
            <a:r>
              <a:rPr sz="1350" b="1" i="0">
                <a:solidFill>
                  <a:srgbClr val="6877E8"/>
                </a:solidFill>
              </a:rPr>
              <a:t>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B8A02-D0BC-437E-BD7E-D787404C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525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161617"/>
                </a:solidFill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161617"/>
                </a:solidFill>
              </a:defRPr>
            </a:pPr>
            <a:r>
              <a:rPr sz="1725" b="1" i="0">
                <a:solidFill>
                  <a:srgbClr val="161617"/>
                </a:solidFill>
              </a:rPr>
              <a:t>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9C43C-3CE1-4F30-A6D5-18C65D33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3716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15154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515154"/>
                </a:solidFill>
              </a:defRPr>
            </a:pPr>
            <a:r>
              <a:rPr sz="1275" b="0" i="0">
                <a:solidFill>
                  <a:srgbClr val="515154"/>
                </a:solidFill>
              </a:rPr>
              <a:t>Synthetic dashboard and sample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6CE8B4-D209-46F6-A858-7675106B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38325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4E6EE0-62BA-4DC1-8C38-BE5AEF4B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574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1" i="0">
                <a:solidFill>
                  <a:srgbClr val="6877E8"/>
                </a:solidFill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6877E8"/>
                </a:solidFill>
              </a:defRPr>
            </a:pPr>
            <a:r>
              <a:rPr sz="1350" b="1" i="0">
                <a:solidFill>
                  <a:srgbClr val="6877E8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9CFA52-DD94-490C-8132-1DA653F3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193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161617"/>
                </a:solidFill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161617"/>
                </a:solidFill>
              </a:defRPr>
            </a:pPr>
            <a:r>
              <a:rPr sz="1725" b="1" i="0">
                <a:solidFill>
                  <a:srgbClr val="161617"/>
                </a:solidFill>
              </a:rPr>
              <a:t>Analyze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996D7B-15E7-4F3E-8EC7-261A53DE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383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15154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515154"/>
                </a:solidFill>
              </a:defRPr>
            </a:pPr>
            <a:r>
              <a:rPr sz="1275" b="0" i="0">
                <a:solidFill>
                  <a:srgbClr val="515154"/>
                </a:solidFill>
              </a:rPr>
              <a:t>Read cash and identify review items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84F717-BC60-45AC-960A-A1A37120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3A311D-1B0E-421E-910A-676657E2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1" i="0">
                <a:solidFill>
                  <a:srgbClr val="6877E8"/>
                </a:solidFill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6877E8"/>
                </a:solidFill>
              </a:defRPr>
            </a:pPr>
            <a:r>
              <a:rPr sz="1350" b="1" i="0">
                <a:solidFill>
                  <a:srgbClr val="6877E8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A9A471-0258-4127-A3E7-42950D5B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861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161617"/>
                </a:solidFill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161617"/>
                </a:solidFill>
              </a:defRPr>
            </a:pPr>
            <a:r>
              <a:rPr sz="1725" b="1" i="0">
                <a:solidFill>
                  <a:srgbClr val="161617"/>
                </a:solidFill>
              </a:rPr>
              <a:t>Prepare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B43A2E-B094-4AA7-854B-BBD4A203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051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15154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515154"/>
                </a:solidFill>
              </a:defRPr>
            </a:pPr>
            <a:r>
              <a:rPr sz="1275" b="0" i="0">
                <a:solidFill>
                  <a:srgbClr val="515154"/>
                </a:solidFill>
              </a:rPr>
              <a:t>Create drafts and simulated schedules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56DEBE-1A01-47BE-950F-79B8F013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71875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977AD4-C59A-4AFA-8F77-5431875E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909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1" i="0">
                <a:solidFill>
                  <a:srgbClr val="6877E8"/>
                </a:solidFill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6877E8"/>
                </a:solidFill>
              </a:defRPr>
            </a:pPr>
            <a:r>
              <a:rPr sz="1350" b="1" i="0">
                <a:solidFill>
                  <a:srgbClr val="6877E8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A37773-A9E3-44C8-BCA6-884893E6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528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161617"/>
                </a:solidFill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161617"/>
                </a:solidFill>
              </a:defRPr>
            </a:pPr>
            <a:r>
              <a:rPr sz="1725" b="1" i="0">
                <a:solidFill>
                  <a:srgbClr val="161617"/>
                </a:solidFill>
              </a:rPr>
              <a:t>Approve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62BF5B-E8E9-480F-9641-D83A8C86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719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15154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515154"/>
                </a:solidFill>
              </a:defRPr>
            </a:pPr>
            <a:r>
              <a:rPr sz="1275" b="0" i="0">
                <a:solidFill>
                  <a:srgbClr val="515154"/>
                </a:solidFill>
              </a:rPr>
              <a:t>Record the owner's local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1E4FA5-2E5E-43D9-B819-470CD3C2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8F6763-D4FD-4FA7-937E-B581E19B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1" i="0">
                <a:solidFill>
                  <a:srgbClr val="E5735B"/>
                </a:solidFill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E5735B"/>
                </a:solidFill>
              </a:defRPr>
            </a:pPr>
            <a:r>
              <a:rPr sz="1350" b="1" i="0">
                <a:solidFill>
                  <a:srgbClr val="E5735B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6C0D28-FA6A-4C1D-B950-DB285C95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196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E5735B"/>
                </a:solidFill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E5735B"/>
                </a:solidFill>
              </a:defRPr>
            </a:pPr>
            <a:r>
              <a:rPr sz="1725" b="1" i="0">
                <a:solidFill>
                  <a:srgbClr val="E5735B"/>
                </a:solidFill>
              </a:rPr>
              <a:t>Execute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FCD657-9E01-47FE-BFEE-4E84EA75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8387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15154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515154"/>
                </a:solidFill>
              </a:defRPr>
            </a:pPr>
            <a:r>
              <a:rPr sz="1275" b="0" i="0">
                <a:solidFill>
                  <a:srgbClr val="515154"/>
                </a:solidFill>
              </a:rPr>
              <a:t>Disabled in this prototype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9682D5-9650-4F99-B05D-86A1DB1E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2497EB-B726-41B5-89AB-0BBC2289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276350"/>
            <a:ext cx="4810125" cy="4762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115DFD-42F0-4EA1-8621-D1D34F54C2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b139c15bd34f04"/>
          <a:stretch xmlns:a="http://schemas.openxmlformats.org/drawingml/2006/main"/>
        </p:blipFill>
        <p:spPr>
          <a:xfrm xmlns:a="http://schemas.openxmlformats.org/drawingml/2006/main">
            <a:off x="7146847" y="1457325"/>
            <a:ext cx="3946682" cy="4400550"/>
          </a:xfrm>
          <a:prstGeom xmlns:a="http://schemas.openxmlformats.org/drawingml/2006/main" prst="roundRect">
            <a:avLst>
              <a:gd name="adj" fmla="val 2597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9B10E3-5FD8-49CB-9C2C-82121A20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E5735B"/>
                </a:solidFill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E5735B"/>
                </a:solidFill>
              </a:defRPr>
            </a:pPr>
            <a:r>
              <a:rPr sz="1275" b="1" i="0">
                <a:solidFill>
                  <a:srgbClr val="E5735B"/>
                </a:solidFill>
              </a:rPr>
              <a:t>Untrusted invoice text cannot override policy.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AB5EC5-687C-45CB-A16F-9246E235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0" i="0">
                <a:solidFill>
                  <a:srgbClr val="A1A1A6"/>
                </a:solidFill>
              </a:defRPr>
            </a:defPPr>
          </a:lstStyle>
          <a:p xmlns:a="http://schemas.openxmlformats.org/drawingml/2006/main">
            <a:pPr algn="r">
              <a:defRPr sz="825" b="0" i="0">
                <a:solidFill>
                  <a:srgbClr val="A1A1A6"/>
                </a:solidFill>
              </a:defRPr>
            </a:pPr>
            <a:r>
              <a:rPr sz="825" b="0" i="0">
                <a:solidFill>
                  <a:srgbClr val="A1A1A6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362474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845C6B-F87A-45EB-9F43-81054944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000" b="1" i="0">
                <a:solidFill>
                  <a:srgbClr val="F5F5F7"/>
                </a:solidFill>
              </a:defRPr>
            </a:defPPr>
          </a:lstStyle>
          <a:p xmlns:a="http://schemas.openxmlformats.org/drawingml/2006/main">
            <a:pPr algn="l">
              <a:defRPr sz="3000" b="1" i="0">
                <a:solidFill>
                  <a:srgbClr val="F5F5F7"/>
                </a:solidFill>
              </a:defRPr>
            </a:pPr>
            <a:r>
              <a:rPr sz="3000" b="1" i="0">
                <a:solidFill>
                  <a:srgbClr val="F5F5F7"/>
                </a:solidFill>
              </a:rPr>
              <a:t>中国市场准备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B2B083-0417-47BA-836A-1CB9F752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D2D2D7"/>
                </a:solidFill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D2D2D7"/>
                </a:solidFill>
              </a:defRPr>
            </a:pPr>
            <a:r>
              <a:rPr sz="2100" b="1" i="0">
                <a:solidFill>
                  <a:srgbClr val="D2D2D7"/>
                </a:solidFill>
              </a:rPr>
              <a:t>China-market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4D24A-BEF6-417A-9213-902A4BEA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7524750" cy="4333875"/>
          </a:xfrm>
          <a:prstGeom xmlns:a="http://schemas.openxmlformats.org/drawingml/2006/main" prst="roundRect">
            <a:avLst>
              <a:gd name="adj" fmla="val 3516"/>
            </a:avLst>
          </a:prstGeom>
          <a:solidFill xmlns:a="http://schemas.openxmlformats.org/drawingml/2006/main">
            <a:srgbClr val="151517"/>
          </a:solidFill>
          <a:ln xmlns:a="http://schemas.openxmlformats.org/drawingml/2006/main" w="9525">
            <a:solidFill>
              <a:srgbClr val="333336"/>
            </a:solidFill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EFEEA-A105-45A6-9687-9F0CF199A9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4074305be6478d"/>
          <a:stretch xmlns:a="http://schemas.openxmlformats.org/drawingml/2006/main"/>
        </p:blipFill>
        <p:spPr>
          <a:xfrm xmlns:a="http://schemas.openxmlformats.org/drawingml/2006/main">
            <a:off x="1592499" y="1981200"/>
            <a:ext cx="5673252" cy="3990975"/>
          </a:xfrm>
          <a:prstGeom xmlns:a="http://schemas.openxmlformats.org/drawingml/2006/main" prst="roundRect">
            <a:avLst>
              <a:gd name="adj" fmla="val 286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BE87E2-EC82-4E9F-9FBA-74A5FB30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812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 i="0">
                <a:solidFill>
                  <a:srgbClr val="F5F5F7"/>
                </a:solidFill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F5F5F7"/>
                </a:solidFill>
              </a:defRPr>
            </a:pPr>
            <a:r>
              <a:rPr sz="2550" b="1" i="0">
                <a:solidFill>
                  <a:srgbClr val="F5F5F7"/>
                </a:solidFill>
              </a:rPr>
              <a:t>微信支付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94DB4-7142-42E9-8D84-7FFAE13C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76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A1A1A6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A1A1A6"/>
                </a:solidFill>
              </a:defRPr>
            </a:pPr>
            <a:r>
              <a:rPr sz="1350" b="0" i="0">
                <a:solidFill>
                  <a:srgbClr val="A1A1A6"/>
                </a:solidFill>
              </a:rPr>
              <a:t>WeChat Pay sandbox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87FF36-5A1A-47A6-8E88-CADE8115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623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 i="0">
                <a:solidFill>
                  <a:srgbClr val="F5F5F7"/>
                </a:solidFill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F5F5F7"/>
                </a:solidFill>
              </a:defRPr>
            </a:pPr>
            <a:r>
              <a:rPr sz="2550" b="1" i="0">
                <a:solidFill>
                  <a:srgbClr val="F5F5F7"/>
                </a:solidFill>
              </a:rPr>
              <a:t>支付宝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FBF28D-A0DC-43C4-997F-BFDCD48C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57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A1A1A6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A1A1A6"/>
                </a:solidFill>
              </a:defRPr>
            </a:pPr>
            <a:r>
              <a:rPr sz="1350" b="0" i="0">
                <a:solidFill>
                  <a:srgbClr val="A1A1A6"/>
                </a:solidFill>
              </a:rPr>
              <a:t>Alipay sandbox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FE40C4-255C-47DC-B2B9-9C33E1C7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29100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C6900-337E-487B-86B7-69416880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95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27A88E"/>
                </a:solidFill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27A88E"/>
                </a:solidFill>
              </a:defRPr>
            </a:pPr>
            <a:r>
              <a:rPr sz="1350" b="1" i="0">
                <a:solidFill>
                  <a:srgbClr val="27A88E"/>
                </a:solidFill>
              </a:rPr>
              <a:t>Read-only simulation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65A22B-38B4-4FBC-9121-5D7FDA00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95850"/>
            <a:ext cx="2524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A1A1A6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A1A1A6"/>
                </a:solidFill>
              </a:defRPr>
            </a:pPr>
            <a:r>
              <a:rPr sz="1275" b="0" i="0">
                <a:solidFill>
                  <a:srgbClr val="A1A1A6"/>
                </a:solidFill>
              </a:rPr>
              <a:t>No production merchant credentials, customer data or live payments.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50FD30-7936-4F78-830B-4DDDBF19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0" i="0">
                <a:solidFill>
                  <a:srgbClr val="77777A"/>
                </a:solidFill>
              </a:defRPr>
            </a:defPPr>
          </a:lstStyle>
          <a:p xmlns:a="http://schemas.openxmlformats.org/drawingml/2006/main">
            <a:pPr algn="r">
              <a:defRPr sz="825" b="0" i="0">
                <a:solidFill>
                  <a:srgbClr val="77777A"/>
                </a:solidFill>
              </a:defRPr>
            </a:pPr>
            <a:r>
              <a:rPr sz="825" b="0" i="0">
                <a:solidFill>
                  <a:srgbClr val="77777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300492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4B8501-652C-4FD3-B8C1-0497E853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 i="0">
                <a:solidFill>
                  <a:srgbClr val="161617"/>
                </a:solidFill>
              </a:defRPr>
            </a:defPPr>
          </a:lstStyle>
          <a:p xmlns:a="http://schemas.openxmlformats.org/drawingml/2006/main">
            <a:pPr algn="l">
              <a:defRPr sz="3150" b="1" i="0">
                <a:solidFill>
                  <a:srgbClr val="161617"/>
                </a:solidFill>
              </a:defRPr>
            </a:pPr>
            <a:r>
              <a:rPr sz="3150" b="1" i="0">
                <a:solidFill>
                  <a:srgbClr val="161617"/>
                </a:solidFill>
              </a:rPr>
              <a:t>Execution evidence ships with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A87741-4F38-4431-894D-0AAAED4D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6572250" cy="47434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5EA"/>
            </a:solidFill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A0937D-C2C1-47CE-BDF0-13D00F67D5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e6883ce28a4a82"/>
          <a:stretch xmlns:a="http://schemas.openxmlformats.org/drawingml/2006/main"/>
        </p:blipFill>
        <p:spPr>
          <a:xfrm xmlns:a="http://schemas.openxmlformats.org/drawingml/2006/main">
            <a:off x="1979534" y="1504950"/>
            <a:ext cx="3946682" cy="4400550"/>
          </a:xfrm>
          <a:prstGeom xmlns:a="http://schemas.openxmlformats.org/drawingml/2006/main" prst="roundRect">
            <a:avLst>
              <a:gd name="adj" fmla="val 2597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DB1A9B-C753-4CDF-8A43-8E1BBD02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4478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 i="0">
                <a:solidFill>
                  <a:srgbClr val="6877E8"/>
                </a:solidFill>
              </a:defRPr>
            </a:defPPr>
          </a:lstStyle>
          <a:p xmlns:a="http://schemas.openxmlformats.org/drawingml/2006/main">
            <a:pPr algn="l">
              <a:defRPr sz="3600" b="1" i="0">
                <a:solidFill>
                  <a:srgbClr val="6877E8"/>
                </a:solidFill>
              </a:defRPr>
            </a:pPr>
            <a:r>
              <a:rPr sz="3600" b="1" i="0">
                <a:solidFill>
                  <a:srgbClr val="6877E8"/>
                </a:solidFill>
              </a:rPr>
              <a:t>10/10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A0942-BB3F-4F10-8ED7-6F83765D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907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515154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515154"/>
                </a:solidFill>
              </a:defRPr>
            </a:pPr>
            <a:r>
              <a:rPr sz="1350" b="0" i="0">
                <a:solidFill>
                  <a:srgbClr val="515154"/>
                </a:solidFill>
              </a:rPr>
              <a:t>automated tests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A4903-508F-481B-8449-3A7D6664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146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 i="0">
                <a:solidFill>
                  <a:srgbClr val="6877E8"/>
                </a:solidFill>
              </a:defRPr>
            </a:defPPr>
          </a:lstStyle>
          <a:p xmlns:a="http://schemas.openxmlformats.org/drawingml/2006/main">
            <a:pPr algn="l">
              <a:defRPr sz="3600" b="1" i="0">
                <a:solidFill>
                  <a:srgbClr val="6877E8"/>
                </a:solidFill>
              </a:defRPr>
            </a:pPr>
            <a:r>
              <a:rPr sz="3600" b="1" i="0">
                <a:solidFill>
                  <a:srgbClr val="6877E8"/>
                </a:solidFill>
              </a:rPr>
              <a:t>4/4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9A516-162F-4904-95E4-255DF727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575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515154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515154"/>
                </a:solidFill>
              </a:defRPr>
            </a:pPr>
            <a:r>
              <a:rPr sz="1350" b="0" i="0">
                <a:solidFill>
                  <a:srgbClr val="515154"/>
                </a:solidFill>
              </a:rPr>
              <a:t>agent-control scenarios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7AB15B-65DE-4E78-B178-7EAB8136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814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 i="0">
                <a:solidFill>
                  <a:srgbClr val="6877E8"/>
                </a:solidFill>
              </a:defRPr>
            </a:defPPr>
          </a:lstStyle>
          <a:p xmlns:a="http://schemas.openxmlformats.org/drawingml/2006/main">
            <a:pPr algn="l">
              <a:defRPr sz="3600" b="1" i="0">
                <a:solidFill>
                  <a:srgbClr val="6877E8"/>
                </a:solidFill>
              </a:defRPr>
            </a:pPr>
            <a:r>
              <a:rPr sz="3600" b="1" i="0">
                <a:solidFill>
                  <a:srgbClr val="6877E8"/>
                </a:solidFill>
              </a:rPr>
              <a:t>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9E137F-B95B-42DE-92D5-8AD9D6A5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243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515154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515154"/>
                </a:solidFill>
              </a:defRPr>
            </a:pPr>
            <a:r>
              <a:rPr sz="1350" b="0" i="0">
                <a:solidFill>
                  <a:srgbClr val="515154"/>
                </a:solidFill>
              </a:rPr>
              <a:t>sandbox events passed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2B6C37-5922-44A7-9A52-8483FF3F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482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 i="0">
                <a:solidFill>
                  <a:srgbClr val="E5735B"/>
                </a:solidFill>
              </a:defRPr>
            </a:defPPr>
          </a:lstStyle>
          <a:p xmlns:a="http://schemas.openxmlformats.org/drawingml/2006/main">
            <a:pPr algn="l">
              <a:defRPr sz="3600" b="1" i="0">
                <a:solidFill>
                  <a:srgbClr val="E5735B"/>
                </a:solidFill>
              </a:defRPr>
            </a:pPr>
            <a:r>
              <a:rPr sz="3600" b="1" i="0">
                <a:solidFill>
                  <a:srgbClr val="E5735B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6386F9-2FA2-4203-9FA1-0FA78983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191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515154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515154"/>
                </a:solidFill>
              </a:defRPr>
            </a:pPr>
            <a:r>
              <a:rPr sz="1350" b="0" i="0">
                <a:solidFill>
                  <a:srgbClr val="515154"/>
                </a:solidFill>
              </a:rPr>
              <a:t>unsafe request blocked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A5BD06-16C1-44E2-9FBB-D5FA7C39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7626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86868B"/>
                </a:solidFill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86868B"/>
                </a:solidFill>
              </a:defRPr>
            </a:pPr>
            <a:r>
              <a:rPr sz="1125" b="0" i="0">
                <a:solidFill>
                  <a:srgbClr val="86868B"/>
                </a:solidFill>
              </a:rPr>
              <a:t>Reproducible command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E72205-EB80-42B6-B7C9-AC689EDB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743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161617"/>
                </a:solidFill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161617"/>
                </a:solidFill>
              </a:defRPr>
            </a:pPr>
            <a:r>
              <a:rPr sz="1275" b="1" i="0">
                <a:solidFill>
                  <a:srgbClr val="161617"/>
                </a:solidFill>
              </a:rPr>
              <a:t>npm run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C5C864-5C0F-43CB-BF99-24136B1E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0" i="0">
                <a:solidFill>
                  <a:srgbClr val="A1A1A6"/>
                </a:solidFill>
              </a:defRPr>
            </a:defPPr>
          </a:lstStyle>
          <a:p xmlns:a="http://schemas.openxmlformats.org/drawingml/2006/main">
            <a:pPr algn="r">
              <a:defRPr sz="825" b="0" i="0">
                <a:solidFill>
                  <a:srgbClr val="A1A1A6"/>
                </a:solidFill>
              </a:defRPr>
            </a:pPr>
            <a:r>
              <a:rPr sz="825" b="0" i="0">
                <a:solidFill>
                  <a:srgbClr val="A1A1A6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032272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25FAC8-8E7F-45C6-8832-04811707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810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750" b="1" i="0">
                <a:solidFill>
                  <a:srgbClr val="F5F5F7"/>
                </a:solidFill>
              </a:defRPr>
            </a:defPPr>
          </a:lstStyle>
          <a:p xmlns:a="http://schemas.openxmlformats.org/drawingml/2006/main">
            <a:pPr algn="l">
              <a:defRPr sz="3750" b="1" i="0">
                <a:solidFill>
                  <a:srgbClr val="F5F5F7"/>
                </a:solidFill>
              </a:defRPr>
            </a:pPr>
            <a:r>
              <a:rPr sz="3750" b="1" i="0">
                <a:solidFill>
                  <a:srgbClr val="F5F5F7"/>
                </a:solidFill>
              </a:rPr>
              <a:t>Five-minute judge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0CE5D-D749-45B8-8C22-17584415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 i="0">
                <a:solidFill>
                  <a:srgbClr val="6877E8"/>
                </a:solidFill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6877E8"/>
                </a:solidFill>
              </a:defRPr>
            </a:pPr>
            <a:r>
              <a:rPr sz="1275" b="1" i="0">
                <a:solidFill>
                  <a:srgbClr val="6877E8"/>
                </a:solidFill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F222B-89BA-40EF-9597-82F07FC3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431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 i="0">
                <a:solidFill>
                  <a:srgbClr val="D2D2D7"/>
                </a:solidFill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D2D2D7"/>
                </a:solidFill>
              </a:defRPr>
            </a:pPr>
            <a:r>
              <a:rPr sz="1500" b="0" i="0">
                <a:solidFill>
                  <a:srgbClr val="D2D2D7"/>
                </a:solidFill>
              </a:rPr>
              <a:t>Hover the 13-week forecast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173CB1-3417-4AAA-A273-89EACE15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 i="0">
                <a:solidFill>
                  <a:srgbClr val="6877E8"/>
                </a:solidFill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6877E8"/>
                </a:solidFill>
              </a:defRPr>
            </a:pPr>
            <a:r>
              <a:rPr sz="1275" b="1" i="0">
                <a:solidFill>
                  <a:srgbClr val="6877E8"/>
                </a:solidFill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E89EF7-4492-4D74-9741-B780FA2A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717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 i="0">
                <a:solidFill>
                  <a:srgbClr val="D2D2D7"/>
                </a:solidFill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D2D2D7"/>
                </a:solidFill>
              </a:defRPr>
            </a:pPr>
            <a:r>
              <a:rPr sz="1500" b="0" i="0">
                <a:solidFill>
                  <a:srgbClr val="D2D2D7"/>
                </a:solidFill>
              </a:rPr>
              <a:t>Import CSV and review the ledger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24B51-752A-44B1-B48E-E5ECD0DB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 i="0">
                <a:solidFill>
                  <a:srgbClr val="6877E8"/>
                </a:solidFill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6877E8"/>
                </a:solidFill>
              </a:defRPr>
            </a:pPr>
            <a:r>
              <a:rPr sz="1275" b="1" i="0">
                <a:solidFill>
                  <a:srgbClr val="6877E8"/>
                </a:solidFill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00A86-07C9-4AC6-9587-FEF9F3E0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04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 i="0">
                <a:solidFill>
                  <a:srgbClr val="D2D2D7"/>
                </a:solidFill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D2D2D7"/>
                </a:solidFill>
              </a:defRPr>
            </a:pPr>
            <a:r>
              <a:rPr sz="1500" b="0" i="0">
                <a:solidFill>
                  <a:srgbClr val="D2D2D7"/>
                </a:solidFill>
              </a:rPr>
              <a:t>Ask the agent to prepare a collection draft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63B6E-E094-496D-84E6-C65897CB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 i="0">
                <a:solidFill>
                  <a:srgbClr val="6877E8"/>
                </a:solidFill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6877E8"/>
                </a:solidFill>
              </a:defRPr>
            </a:pPr>
            <a:r>
              <a:rPr sz="1275" b="1" i="0">
                <a:solidFill>
                  <a:srgbClr val="6877E8"/>
                </a:solidFill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68290B-C51D-4809-A0CF-ADEB2A39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290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 i="0">
                <a:solidFill>
                  <a:srgbClr val="D2D2D7"/>
                </a:solidFill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D2D2D7"/>
                </a:solidFill>
              </a:defRPr>
            </a:pPr>
            <a:r>
              <a:rPr sz="1500" b="0" i="0">
                <a:solidFill>
                  <a:srgbClr val="D2D2D7"/>
                </a:solidFill>
              </a:rPr>
              <a:t>Approve a simulation and block a bank-change attack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9E309A-C634-4C02-B779-CDF84F0C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 i="0">
                <a:solidFill>
                  <a:srgbClr val="6877E8"/>
                </a:solidFill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6877E8"/>
                </a:solidFill>
              </a:defRPr>
            </a:pPr>
            <a:r>
              <a:rPr sz="1275" b="1" i="0">
                <a:solidFill>
                  <a:srgbClr val="6877E8"/>
                </a:solidFill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D90F5D-B9FB-409F-99A0-2E08E486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577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 i="0">
                <a:solidFill>
                  <a:srgbClr val="D2D2D7"/>
                </a:solidFill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D2D2D7"/>
                </a:solidFill>
              </a:defRPr>
            </a:pPr>
            <a:r>
              <a:rPr sz="1500" b="0" i="0">
                <a:solidFill>
                  <a:srgbClr val="D2D2D7"/>
                </a:solidFill>
              </a:rPr>
              <a:t>Run both China payment-channel sandboxes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9A69A3-5B7F-40F6-A5BE-CA647CA4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769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2997FF"/>
                </a:solidFill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2997FF"/>
                </a:solidFill>
              </a:defRPr>
            </a:pPr>
            <a:r>
              <a:rPr sz="1575" b="1" i="0">
                <a:solidFill>
                  <a:srgbClr val="2997FF"/>
                </a:solidFill>
              </a:rPr>
              <a:t>github.com/evilaechik/sz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83139C-80C0-42ED-B20A-F78BCF13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15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 i="0">
                <a:solidFill>
                  <a:srgbClr val="6E6E73"/>
                </a:solidFill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6E6E73"/>
                </a:solidFill>
              </a:defRPr>
            </a:pPr>
            <a:r>
              <a:rPr sz="975" b="0" i="0">
                <a:solidFill>
                  <a:srgbClr val="6E6E73"/>
                </a:solidFill>
              </a:rPr>
              <a:t>Synthetic competition prototype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6780A5-28A5-4444-834D-4FD17BBD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876300"/>
            <a:ext cx="5219700" cy="52387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151517"/>
          </a:solidFill>
          <a:ln xmlns:a="http://schemas.openxmlformats.org/drawingml/2006/main" w="9525">
            <a:solidFill>
              <a:srgbClr val="333336"/>
            </a:solidFill>
            <a:prstDash val="solid"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980238-BBC7-4594-8A76-EF4CF7AE03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b77bec1aaf4fa0"/>
          <a:stretch xmlns:a="http://schemas.openxmlformats.org/drawingml/2006/main"/>
        </p:blipFill>
        <p:spPr>
          <a:xfrm xmlns:a="http://schemas.openxmlformats.org/drawingml/2006/main">
            <a:off x="6477000" y="2124075"/>
            <a:ext cx="4876800" cy="2743200"/>
          </a:xfrm>
          <a:prstGeom xmlns:a="http://schemas.openxmlformats.org/drawingml/2006/main" prst="roundRect">
            <a:avLst>
              <a:gd name="adj" fmla="val 2344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B9B9E1-02DD-4D6F-A2BC-4F7407F9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0" i="0">
                <a:solidFill>
                  <a:srgbClr val="77777A"/>
                </a:solidFill>
              </a:defRPr>
            </a:defPPr>
          </a:lstStyle>
          <a:p xmlns:a="http://schemas.openxmlformats.org/drawingml/2006/main">
            <a:pPr algn="r">
              <a:defRPr sz="825" b="0" i="0">
                <a:solidFill>
                  <a:srgbClr val="77777A"/>
                </a:solidFill>
              </a:defRPr>
            </a:pPr>
            <a:r>
              <a:rPr sz="825" b="0" i="0">
                <a:solidFill>
                  <a:srgbClr val="77777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06676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2026-10-16T19:56:10.7970000Z</dcterms:created>
  <dcterms:modified xsi:type="dcterms:W3CDTF">2026-10-16T19:56:10.7970000Z</dcterms:modified>
</coreProperties>
</file>